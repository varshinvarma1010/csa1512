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naming the capstone problem and the cloud product objective. Keep the title slide uncluttered and clearly identify the individual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start with technology. First make the need clear, then connect it to cloud-enabled scale, reach, or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should explain the concept map as a reasoning artifact, not as decoration.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from user request to API, compute, data, storage, analytics, monitoring, and security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the student to defend provider responsibility and student responsibility for the selected service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Big data analytics is optional, but a thoughtful data path is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AI is not required, students can present a Python automation or analytics module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is where students show engineering judgment instead of simply listing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should be specific and inspectable, not a generic list of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storyboard helps the faculty see whether the cloud architecture is connected to actual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can use this as the self-check slide before presenting the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ending should synthesize learning, not just say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01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23900" y="914400"/>
            <a:ext cx="6762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F4E79"/>
                </a:solidFill>
              </a:defRPr>
            </a:pPr>
            <a:r>
              <a:rPr sz="2625" b="1">
                <a:solidFill>
                  <a:srgbClr val="1F4E79"/>
                </a:solidFill>
              </a:rPr>
              <a:t>CSA15 Cloud Computing and Big Data Analytics</a:t>
            </a:r>
            <a:endParaRPr sz="2625" b="1">
              <a:solidFill>
                <a:srgbClr val="1F4E79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23900" y="2152650"/>
            <a:ext cx="676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F6690"/>
                </a:solidFill>
              </a:defRPr>
            </a:pPr>
            <a:r>
              <a:rPr sz="2250" b="1">
                <a:solidFill>
                  <a:srgbClr val="2F6690"/>
                </a:solidFill>
              </a:rPr>
              <a:t>Capstone Cloud Technical Presentation</a:t>
            </a:r>
            <a:endParaRPr sz="2250" b="1">
              <a:solidFill>
                <a:srgbClr val="2F6690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23900" y="276225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Individual Student Presentation Deck</a:t>
            </a:r>
            <a:endParaRPr sz="1725" b="0">
              <a:solidFill>
                <a:srgbClr val="334155"/>
              </a:solidFill>
            </a:endParaRPr>
          </a:p>
        </p:txBody>
      </p:sp>
      <p:sp>
        <p:nvSpPr>
          <p:cNvPr id="10" name="Presenter Details-panel"/>
          <p:cNvSpPr>
            <a:spLocks noGrp="1"/>
          </p:cNvSpPr>
          <p:nvPr/>
        </p:nvSpPr>
        <p:spPr>
          <a:xfrm>
            <a:off x="7524750" y="1143000"/>
            <a:ext cx="37147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en-US"/>
          </a:p>
        </p:txBody>
      </p:sp>
      <p:sp>
        <p:nvSpPr>
          <p:cNvPr id="11" name="Presenter Details-bar"/>
          <p:cNvSpPr>
            <a:spLocks noGrp="1"/>
          </p:cNvSpPr>
          <p:nvPr/>
        </p:nvSpPr>
        <p:spPr>
          <a:xfrm>
            <a:off x="7524750" y="1143000"/>
            <a:ext cx="37147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7696200" y="1333500"/>
            <a:ext cx="3371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Presenter Details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696200" y="1733550"/>
            <a:ext cx="3371850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Student Name</a:t>
            </a:r>
            <a:r>
              <a:rPr sz="1350" b="0">
                <a:solidFill>
                  <a:srgbClr val="172033"/>
                </a:solidFill>
              </a:rPr>
              <a:t>:</a:t>
            </a:r>
            <a:r>
              <a:rPr lang="en-US" sz="1350" b="0">
                <a:solidFill>
                  <a:srgbClr val="172033"/>
                </a:solidFill>
              </a:rPr>
              <a:t>K.Varshini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Register Number:</a:t>
            </a:r>
            <a:r>
              <a:rPr lang="en-US" sz="1350" b="0">
                <a:solidFill>
                  <a:srgbClr val="172033"/>
                </a:solidFill>
              </a:rPr>
              <a:t>192472358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Class / Section / Slot:</a:t>
            </a:r>
            <a:r>
              <a:rPr lang="en-US" sz="1350" b="0">
                <a:solidFill>
                  <a:srgbClr val="172033"/>
                </a:solidFill>
              </a:rPr>
              <a:t>B</a:t>
            </a:r>
            <a:endParaRPr sz="1350" b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Capstone Title:</a:t>
            </a:r>
            <a:r>
              <a:rPr lang="en-US" altLang="en-US" sz="1350">
                <a:solidFill>
                  <a:srgbClr val="172033"/>
                </a:solidFill>
              </a:rPr>
              <a:t>SkillHire: AI Resume Screening and Job-Fit Android App</a:t>
            </a:r>
            <a:endParaRPr lang="en-US" altLang="en-US" sz="135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Selected SDG Goal(s):</a:t>
            </a:r>
            <a:r>
              <a:rPr lang="en-US" altLang="en-US" sz="1350">
                <a:solidFill>
                  <a:srgbClr val="172033"/>
                </a:solidFill>
              </a:rPr>
              <a:t>SDG 8 – Decent Work and Economic Growth</a:t>
            </a:r>
            <a:endParaRPr lang="en-US" altLang="en-US" sz="135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lang="en-US" altLang="en-US" sz="1350">
                <a:solidFill>
                  <a:srgbClr val="172033"/>
                </a:solidFill>
              </a:rPr>
              <a:t>SDG 9 – Industry, Innovation and Infrastructure</a:t>
            </a:r>
            <a:endParaRPr lang="en-US" altLang="en-US" sz="135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Cloud Platform / Tools:</a:t>
            </a:r>
            <a:r>
              <a:rPr lang="en-US" altLang="en-US" sz="1350">
                <a:solidFill>
                  <a:srgbClr val="172033"/>
                </a:solidFill>
              </a:rPr>
              <a:t>Firebase,Google Cloud,PythonFlask API,</a:t>
            </a:r>
            <a:endParaRPr lang="en-US" altLang="en-US" sz="135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lang="en-US" altLang="en-US" sz="1350">
                <a:solidFill>
                  <a:srgbClr val="172033"/>
                </a:solidFill>
              </a:rPr>
              <a:t>Android Studio</a:t>
            </a:r>
            <a:endParaRPr lang="en-US" altLang="en-US" sz="1350">
              <a:solidFill>
                <a:srgbClr val="172033"/>
              </a:solidFill>
            </a:endParaRPr>
          </a:p>
        </p:txBody>
      </p:sp>
      <p:sp>
        <p:nvSpPr>
          <p:cNvPr id="14" name="Presentation Focus-panel"/>
          <p:cNvSpPr>
            <a:spLocks noGrp="1"/>
          </p:cNvSpPr>
          <p:nvPr/>
        </p:nvSpPr>
        <p:spPr>
          <a:xfrm>
            <a:off x="723900" y="3714750"/>
            <a:ext cx="6191250" cy="1181100"/>
          </a:xfrm>
          <a:prstGeom prst="roundRect">
            <a:avLst>
              <a:gd name="adj" fmla="val 6452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Presentation Focus-bar"/>
          <p:cNvSpPr>
            <a:spLocks noGrp="1"/>
          </p:cNvSpPr>
          <p:nvPr/>
        </p:nvSpPr>
        <p:spPr>
          <a:xfrm>
            <a:off x="723900" y="3714750"/>
            <a:ext cx="6191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895350" y="3905250"/>
            <a:ext cx="584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Presentation Focus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895350" y="4305300"/>
            <a:ext cx="584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Present your capstone as a cloud-backed product. Explain the problem, architecture, service choices, evidence, and CO1 learning clearly.</a:t>
            </a:r>
            <a:endParaRPr sz="1425" b="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02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Problem Context and Stakeholder Mapping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Our capstone begins with a real problem to solve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section-0"/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section-accent-0"/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Problem Statement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52500" y="2132965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Many job seekers submit resumes that do not match job requirements, while recruiters spend significant time manually reviewing resumes.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3" name="section-1"/>
          <p:cNvSpPr>
            <a:spLocks noGrp="1"/>
          </p:cNvSpPr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section-accent-1"/>
          <p:cNvSpPr>
            <a:spLocks noGrp="1"/>
          </p:cNvSpPr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312535" y="165735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Target Users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362700" y="1989455"/>
            <a:ext cx="4191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Students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Freshers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Recruiters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HR Managers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7" name="section-2"/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section-accent-2"/>
          <p:cNvSpPr>
            <a:spLocks noGrp="1"/>
          </p:cNvSpPr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SDG Fit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Supports SDG 8 by improving employment opportunities through AI.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21" name="section-3"/>
          <p:cNvSpPr>
            <a:spLocks noGrp="1"/>
          </p:cNvSpPr>
          <p:nvPr/>
        </p:nvSpPr>
        <p:spPr>
          <a:xfrm>
            <a:off x="6134100" y="3238500"/>
            <a:ext cx="4949190" cy="183261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section-accent-3"/>
          <p:cNvSpPr>
            <a:spLocks noGrp="1"/>
          </p:cNvSpPr>
          <p:nvPr/>
        </p:nvSpPr>
        <p:spPr>
          <a:xfrm flipH="1">
            <a:off x="6118225" y="3238500"/>
            <a:ext cx="76200" cy="183261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Product Boundary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384290" y="3829050"/>
            <a:ext cx="4191000" cy="13379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1">
                <a:solidFill>
                  <a:srgbClr val="172033"/>
                </a:solidFill>
              </a:rPr>
              <a:t>Version 1 includes: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Resume upload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AI resume analysis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Job matching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Recruiter dashboard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03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Cloud Adoption Rationale and Concept Map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problem needs cloud support to become a usable product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Cloud Definition-panel"/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en-US"/>
          </a:p>
        </p:txBody>
      </p:sp>
      <p:sp>
        <p:nvSpPr>
          <p:cNvPr id="10" name="Cloud Definition-bar"/>
          <p:cNvSpPr>
            <a:spLocks noGrp="1"/>
          </p:cNvSpPr>
          <p:nvPr/>
        </p:nvSpPr>
        <p:spPr>
          <a:xfrm>
            <a:off x="723900" y="1600200"/>
            <a:ext cx="476250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895350" y="1790700"/>
            <a:ext cx="441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Cloud Definition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11225" y="2095500"/>
            <a:ext cx="4419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Cloud computing allows SkillHire to store resumes, process AI predictions, and deliver services online without maintaining physical servers.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3" name="Cloud Characteristics-panel"/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Cloud Characteristics-bar"/>
          <p:cNvSpPr>
            <a:spLocks noGrp="1"/>
          </p:cNvSpPr>
          <p:nvPr/>
        </p:nvSpPr>
        <p:spPr>
          <a:xfrm>
            <a:off x="723900" y="3238500"/>
            <a:ext cx="476250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895350" y="3429000"/>
            <a:ext cx="441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Cloud Characteristics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95350" y="3829050"/>
            <a:ext cx="4419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Elasticity, scalability, measured service, resource pooling</a:t>
            </a:r>
            <a:r>
              <a:rPr lang="en-US" sz="1275" b="0">
                <a:solidFill>
                  <a:srgbClr val="172033"/>
                </a:solidFill>
              </a:rPr>
              <a:t>,On-Demand Access.</a:t>
            </a:r>
            <a:endParaRPr lang="en-US" sz="1275" b="0">
              <a:solidFill>
                <a:srgbClr val="172033"/>
              </a:solidFill>
            </a:endParaRPr>
          </a:p>
        </p:txBody>
      </p:sp>
      <p:sp>
        <p:nvSpPr>
          <p:cNvPr id="17" name="Cloud Concept Map-placeholder"/>
          <p:cNvSpPr>
            <a:spLocks noGrp="1"/>
          </p:cNvSpPr>
          <p:nvPr/>
        </p:nvSpPr>
        <p:spPr>
          <a:xfrm>
            <a:off x="6134100" y="1600200"/>
            <a:ext cx="4762500" cy="4679315"/>
          </a:xfrm>
          <a:prstGeom prst="roundRect">
            <a:avLst>
              <a:gd name="adj" fmla="val 2632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305550" y="1771650"/>
            <a:ext cx="4419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Cloud Concept Map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305550" y="2190750"/>
            <a:ext cx="44196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endParaRPr lang="en-US" sz="1350" b="0">
              <a:solidFill>
                <a:srgbClr val="64748B"/>
              </a:solidFill>
            </a:endParaRPr>
          </a:p>
        </p:txBody>
      </p:sp>
      <p:pic>
        <p:nvPicPr>
          <p:cNvPr id="3096067" name="Picture 1"/>
          <p:cNvPicPr>
            <a:picLocks noChangeAspect="1"/>
          </p:cNvPicPr>
          <p:nvPr/>
        </p:nvPicPr>
        <p:blipFill>
          <a:blip r:embed="rId2"/>
          <a:srcRect l="7058" r="16125" b="3700"/>
          <a:stretch>
            <a:fillRect/>
          </a:stretch>
        </p:blipFill>
        <p:spPr>
          <a:xfrm>
            <a:off x="6240145" y="2215515"/>
            <a:ext cx="4556760" cy="393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04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Capstone Cloud Architecture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Our cloud architecture connects the user action to services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26" name="Presentation Points-panel"/>
          <p:cNvSpPr>
            <a:spLocks noGrp="1"/>
          </p:cNvSpPr>
          <p:nvPr/>
        </p:nvSpPr>
        <p:spPr>
          <a:xfrm>
            <a:off x="9120505" y="1674495"/>
            <a:ext cx="2381250" cy="3318510"/>
          </a:xfrm>
          <a:prstGeom prst="roundRect">
            <a:avLst>
              <a:gd name="adj" fmla="val 3200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7" name="Presentation Points-bar"/>
          <p:cNvSpPr>
            <a:spLocks noGrp="1"/>
          </p:cNvSpPr>
          <p:nvPr/>
        </p:nvSpPr>
        <p:spPr>
          <a:xfrm>
            <a:off x="9120505" y="1609725"/>
            <a:ext cx="2381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9120505" y="1802765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Presentation Points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9264650" y="2204720"/>
            <a:ext cx="20383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172033"/>
                </a:solidFill>
              </a:defRPr>
            </a:pPr>
            <a:r>
              <a:rPr lang="en-US" altLang="en-US" sz="1600" b="0">
                <a:solidFill>
                  <a:srgbClr val="172033"/>
                </a:solidFill>
              </a:rPr>
              <a:t>API handles communication</a:t>
            </a:r>
            <a:endParaRPr lang="en-US" altLang="en-US" sz="1600" b="0">
              <a:solidFill>
                <a:srgbClr val="172033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172033"/>
                </a:solidFill>
              </a:defRPr>
            </a:pPr>
            <a:r>
              <a:rPr lang="en-US" altLang="en-US" sz="1600" b="0">
                <a:solidFill>
                  <a:srgbClr val="172033"/>
                </a:solidFill>
              </a:rPr>
              <a:t>Python predicts job match</a:t>
            </a:r>
            <a:endParaRPr lang="en-US" altLang="en-US" sz="1600" b="0">
              <a:solidFill>
                <a:srgbClr val="172033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172033"/>
                </a:solidFill>
              </a:defRPr>
            </a:pPr>
            <a:r>
              <a:rPr lang="en-US" altLang="en-US" sz="1600" b="0">
                <a:solidFill>
                  <a:srgbClr val="172033"/>
                </a:solidFill>
              </a:rPr>
              <a:t>Firebase stores resumes</a:t>
            </a:r>
            <a:endParaRPr lang="en-US" altLang="en-US" sz="1600" b="0">
              <a:solidFill>
                <a:srgbClr val="172033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172033"/>
                </a:solidFill>
              </a:defRPr>
            </a:pPr>
            <a:r>
              <a:rPr lang="en-US" altLang="en-US" sz="1600" b="0">
                <a:solidFill>
                  <a:srgbClr val="172033"/>
                </a:solidFill>
              </a:rPr>
              <a:t>Cloud Storage stores PDF files</a:t>
            </a:r>
            <a:endParaRPr lang="en-US" altLang="en-US" sz="1600" b="0">
              <a:solidFill>
                <a:srgbClr val="172033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172033"/>
                </a:solidFill>
              </a:defRPr>
            </a:pPr>
            <a:r>
              <a:rPr lang="en-US" altLang="en-US" sz="1600" b="0">
                <a:solidFill>
                  <a:srgbClr val="172033"/>
                </a:solidFill>
              </a:rPr>
              <a:t>Monitoring tracks system usage</a:t>
            </a:r>
            <a:endParaRPr lang="en-US" altLang="en-US" sz="1600" b="0">
              <a:solidFill>
                <a:srgbClr val="172033"/>
              </a:solidFill>
            </a:endParaRPr>
          </a:p>
        </p:txBody>
      </p:sp>
      <p:pic>
        <p:nvPicPr>
          <p:cNvPr id="3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549400"/>
            <a:ext cx="8181340" cy="4443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05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Cloud Service Model Responsibility Matrix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Each service model defines what we control and what cloud manages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matrix-h-0"/>
          <p:cNvSpPr>
            <a:spLocks noGrp="1"/>
          </p:cNvSpPr>
          <p:nvPr/>
        </p:nvSpPr>
        <p:spPr>
          <a:xfrm>
            <a:off x="723900" y="1809750"/>
            <a:ext cx="171450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839470" y="1971675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90" b="1">
                <a:solidFill>
                  <a:srgbClr val="FFFFFF"/>
                </a:solidFill>
              </a:defRPr>
            </a:pPr>
            <a:r>
              <a:rPr sz="1090" b="1">
                <a:solidFill>
                  <a:srgbClr val="FFFFFF"/>
                </a:solidFill>
              </a:rPr>
              <a:t>Service area</a:t>
            </a:r>
            <a:endParaRPr sz="1090" b="1">
              <a:solidFill>
                <a:srgbClr val="FFFFFF"/>
              </a:solidFill>
            </a:endParaRPr>
          </a:p>
        </p:txBody>
      </p:sp>
      <p:sp>
        <p:nvSpPr>
          <p:cNvPr id="11" name="matrix-h-1"/>
          <p:cNvSpPr>
            <a:spLocks noGrp="1"/>
          </p:cNvSpPr>
          <p:nvPr/>
        </p:nvSpPr>
        <p:spPr>
          <a:xfrm>
            <a:off x="2438400" y="1809750"/>
            <a:ext cx="114300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514600" y="1971675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90" b="1">
                <a:solidFill>
                  <a:srgbClr val="FFFFFF"/>
                </a:solidFill>
              </a:defRPr>
            </a:pPr>
            <a:r>
              <a:rPr sz="1090" b="1">
                <a:solidFill>
                  <a:srgbClr val="FFFFFF"/>
                </a:solidFill>
              </a:rPr>
              <a:t>Model</a:t>
            </a:r>
            <a:endParaRPr sz="1090" b="1">
              <a:solidFill>
                <a:srgbClr val="FFFFFF"/>
              </a:solidFill>
            </a:endParaRPr>
          </a:p>
        </p:txBody>
      </p:sp>
      <p:sp>
        <p:nvSpPr>
          <p:cNvPr id="13" name="matrix-h-2"/>
          <p:cNvSpPr>
            <a:spLocks noGrp="1"/>
          </p:cNvSpPr>
          <p:nvPr/>
        </p:nvSpPr>
        <p:spPr>
          <a:xfrm>
            <a:off x="3581400" y="1809750"/>
            <a:ext cx="228600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657600" y="1971675"/>
            <a:ext cx="2133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90" b="1">
                <a:solidFill>
                  <a:srgbClr val="FFFFFF"/>
                </a:solidFill>
              </a:defRPr>
            </a:pPr>
            <a:r>
              <a:rPr sz="1090" b="1">
                <a:solidFill>
                  <a:srgbClr val="FFFFFF"/>
                </a:solidFill>
              </a:rPr>
              <a:t>Provider manages</a:t>
            </a:r>
            <a:endParaRPr sz="1090" b="1">
              <a:solidFill>
                <a:srgbClr val="FFFFFF"/>
              </a:solidFill>
            </a:endParaRPr>
          </a:p>
        </p:txBody>
      </p:sp>
      <p:sp>
        <p:nvSpPr>
          <p:cNvPr id="15" name="matrix-h-3"/>
          <p:cNvSpPr>
            <a:spLocks noGrp="1"/>
          </p:cNvSpPr>
          <p:nvPr/>
        </p:nvSpPr>
        <p:spPr>
          <a:xfrm>
            <a:off x="5867400" y="1809750"/>
            <a:ext cx="238125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5943600" y="1971675"/>
            <a:ext cx="2228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90" b="1">
                <a:solidFill>
                  <a:srgbClr val="FFFFFF"/>
                </a:solidFill>
              </a:defRPr>
            </a:pPr>
            <a:r>
              <a:rPr sz="1090" b="1">
                <a:solidFill>
                  <a:srgbClr val="FFFFFF"/>
                </a:solidFill>
              </a:rPr>
              <a:t>Student team manages</a:t>
            </a:r>
            <a:endParaRPr sz="1090" b="1">
              <a:solidFill>
                <a:srgbClr val="FFFFFF"/>
              </a:solidFill>
            </a:endParaRPr>
          </a:p>
        </p:txBody>
      </p:sp>
      <p:sp>
        <p:nvSpPr>
          <p:cNvPr id="17" name="matrix-h-4"/>
          <p:cNvSpPr>
            <a:spLocks noGrp="1"/>
          </p:cNvSpPr>
          <p:nvPr/>
        </p:nvSpPr>
        <p:spPr>
          <a:xfrm>
            <a:off x="8248650" y="1809750"/>
            <a:ext cx="247650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8324850" y="1971675"/>
            <a:ext cx="2324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90" b="1">
                <a:solidFill>
                  <a:srgbClr val="FFFFFF"/>
                </a:solidFill>
              </a:defRPr>
            </a:pPr>
            <a:r>
              <a:rPr sz="1090" b="1">
                <a:solidFill>
                  <a:srgbClr val="FFFFFF"/>
                </a:solidFill>
              </a:rPr>
              <a:t>Why this fits</a:t>
            </a:r>
            <a:endParaRPr sz="1090" b="1">
              <a:solidFill>
                <a:srgbClr val="FFFFFF"/>
              </a:solidFill>
            </a:endParaRPr>
          </a:p>
        </p:txBody>
      </p:sp>
      <p:sp>
        <p:nvSpPr>
          <p:cNvPr id="19" name="matrix-0-0"/>
          <p:cNvSpPr>
            <a:spLocks noGrp="1"/>
          </p:cNvSpPr>
          <p:nvPr/>
        </p:nvSpPr>
        <p:spPr>
          <a:xfrm>
            <a:off x="723900" y="2305050"/>
            <a:ext cx="1714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800100" y="24574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1">
                <a:solidFill>
                  <a:srgbClr val="1F4E79"/>
                </a:solidFill>
              </a:defRPr>
            </a:pPr>
            <a:r>
              <a:rPr sz="1015" b="1">
                <a:solidFill>
                  <a:srgbClr val="1F4E79"/>
                </a:solidFill>
              </a:rPr>
              <a:t>Frontend hosting</a:t>
            </a:r>
            <a:endParaRPr sz="1015" b="1">
              <a:solidFill>
                <a:srgbClr val="1F4E79"/>
              </a:solidFill>
            </a:endParaRPr>
          </a:p>
        </p:txBody>
      </p:sp>
      <p:sp>
        <p:nvSpPr>
          <p:cNvPr id="21" name="matrix-0-1"/>
          <p:cNvSpPr>
            <a:spLocks noGrp="1"/>
          </p:cNvSpPr>
          <p:nvPr/>
        </p:nvSpPr>
        <p:spPr>
          <a:xfrm>
            <a:off x="2438400" y="2305050"/>
            <a:ext cx="1143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sz="1400"/>
              <a:t>PaaS</a:t>
            </a:r>
            <a:endParaRPr lang="en-US" sz="1400"/>
          </a:p>
        </p:txBody>
      </p:sp>
      <p:sp>
        <p:nvSpPr>
          <p:cNvPr id="22" name="matrix-0-2"/>
          <p:cNvSpPr>
            <a:spLocks noGrp="1"/>
          </p:cNvSpPr>
          <p:nvPr/>
        </p:nvSpPr>
        <p:spPr>
          <a:xfrm>
            <a:off x="3581400" y="2305050"/>
            <a:ext cx="2286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altLang="en-US" sz="1400"/>
              <a:t>Hosting</a:t>
            </a:r>
            <a:endParaRPr lang="en-US" altLang="en-US" sz="1400"/>
          </a:p>
        </p:txBody>
      </p:sp>
      <p:sp>
        <p:nvSpPr>
          <p:cNvPr id="23" name="matrix-0-3"/>
          <p:cNvSpPr>
            <a:spLocks noGrp="1"/>
          </p:cNvSpPr>
          <p:nvPr/>
        </p:nvSpPr>
        <p:spPr>
          <a:xfrm>
            <a:off x="5867400" y="2305050"/>
            <a:ext cx="238125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sz="1400"/>
              <a:t>UI Design</a:t>
            </a:r>
            <a:endParaRPr lang="en-US" sz="1400"/>
          </a:p>
        </p:txBody>
      </p:sp>
      <p:sp>
        <p:nvSpPr>
          <p:cNvPr id="24" name="matrix-0-4"/>
          <p:cNvSpPr>
            <a:spLocks noGrp="1"/>
          </p:cNvSpPr>
          <p:nvPr/>
        </p:nvSpPr>
        <p:spPr>
          <a:xfrm>
            <a:off x="8248650" y="2305050"/>
            <a:ext cx="2476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altLang="en-US"/>
              <a:t>Easy deployment</a:t>
            </a:r>
            <a:endParaRPr lang="en-US" altLang="en-US"/>
          </a:p>
        </p:txBody>
      </p:sp>
      <p:sp>
        <p:nvSpPr>
          <p:cNvPr id="25" name="matrix-1-0"/>
          <p:cNvSpPr>
            <a:spLocks noGrp="1"/>
          </p:cNvSpPr>
          <p:nvPr/>
        </p:nvSpPr>
        <p:spPr>
          <a:xfrm>
            <a:off x="723900" y="2800350"/>
            <a:ext cx="171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800100" y="29527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1">
                <a:solidFill>
                  <a:srgbClr val="1F4E79"/>
                </a:solidFill>
              </a:defRPr>
            </a:pPr>
            <a:r>
              <a:rPr sz="1015" b="1">
                <a:solidFill>
                  <a:srgbClr val="1F4E79"/>
                </a:solidFill>
              </a:rPr>
              <a:t>Backend/API</a:t>
            </a:r>
            <a:endParaRPr sz="1015" b="1">
              <a:solidFill>
                <a:srgbClr val="1F4E79"/>
              </a:solidFill>
            </a:endParaRPr>
          </a:p>
        </p:txBody>
      </p:sp>
      <p:sp>
        <p:nvSpPr>
          <p:cNvPr id="27" name="matrix-1-1"/>
          <p:cNvSpPr>
            <a:spLocks noGrp="1"/>
          </p:cNvSpPr>
          <p:nvPr/>
        </p:nvSpPr>
        <p:spPr>
          <a:xfrm>
            <a:off x="2438400" y="2800350"/>
            <a:ext cx="1143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sz="1400">
                <a:sym typeface="+mn-ea"/>
              </a:rPr>
              <a:t>PaaS</a:t>
            </a:r>
            <a:endParaRPr lang="en-US" sz="1400">
              <a:sym typeface="+mn-ea"/>
            </a:endParaRPr>
          </a:p>
        </p:txBody>
      </p:sp>
      <p:sp>
        <p:nvSpPr>
          <p:cNvPr id="28" name="matrix-1-2"/>
          <p:cNvSpPr>
            <a:spLocks noGrp="1"/>
          </p:cNvSpPr>
          <p:nvPr/>
        </p:nvSpPr>
        <p:spPr>
          <a:xfrm>
            <a:off x="3581400" y="2800350"/>
            <a:ext cx="2286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altLang="en-US" sz="1400"/>
              <a:t>Runtime</a:t>
            </a:r>
            <a:endParaRPr lang="en-US" altLang="en-US" sz="1400"/>
          </a:p>
        </p:txBody>
      </p:sp>
      <p:sp>
        <p:nvSpPr>
          <p:cNvPr id="29" name="matrix-1-3"/>
          <p:cNvSpPr>
            <a:spLocks noGrp="1"/>
          </p:cNvSpPr>
          <p:nvPr/>
        </p:nvSpPr>
        <p:spPr>
          <a:xfrm>
            <a:off x="5867400" y="2800350"/>
            <a:ext cx="2381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altLang="en-US"/>
              <a:t>Flask Code</a:t>
            </a:r>
            <a:endParaRPr lang="en-US" altLang="en-US"/>
          </a:p>
        </p:txBody>
      </p:sp>
      <p:sp>
        <p:nvSpPr>
          <p:cNvPr id="30" name="matrix-1-4"/>
          <p:cNvSpPr>
            <a:spLocks noGrp="1"/>
          </p:cNvSpPr>
          <p:nvPr/>
        </p:nvSpPr>
        <p:spPr>
          <a:xfrm>
            <a:off x="8248650" y="2800350"/>
            <a:ext cx="2476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altLang="en-US"/>
              <a:t>Less maintenance</a:t>
            </a:r>
            <a:endParaRPr lang="en-US" altLang="en-US"/>
          </a:p>
        </p:txBody>
      </p:sp>
      <p:sp>
        <p:nvSpPr>
          <p:cNvPr id="31" name="matrix-2-0"/>
          <p:cNvSpPr>
            <a:spLocks noGrp="1"/>
          </p:cNvSpPr>
          <p:nvPr/>
        </p:nvSpPr>
        <p:spPr>
          <a:xfrm>
            <a:off x="723900" y="3295650"/>
            <a:ext cx="1714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800100" y="34480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1">
                <a:solidFill>
                  <a:srgbClr val="1F4E79"/>
                </a:solidFill>
              </a:defRPr>
            </a:pPr>
            <a:r>
              <a:rPr sz="1015" b="1">
                <a:solidFill>
                  <a:srgbClr val="1F4E79"/>
                </a:solidFill>
              </a:rPr>
              <a:t>Database</a:t>
            </a:r>
            <a:endParaRPr sz="1015" b="1">
              <a:solidFill>
                <a:srgbClr val="1F4E79"/>
              </a:solidFill>
            </a:endParaRPr>
          </a:p>
        </p:txBody>
      </p:sp>
      <p:sp>
        <p:nvSpPr>
          <p:cNvPr id="33" name="matrix-2-1"/>
          <p:cNvSpPr>
            <a:spLocks noGrp="1"/>
          </p:cNvSpPr>
          <p:nvPr/>
        </p:nvSpPr>
        <p:spPr>
          <a:xfrm>
            <a:off x="2438400" y="3295650"/>
            <a:ext cx="1143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sz="1400"/>
              <a:t>DBaaS</a:t>
            </a:r>
            <a:endParaRPr lang="en-US" sz="1400"/>
          </a:p>
        </p:txBody>
      </p:sp>
      <p:sp>
        <p:nvSpPr>
          <p:cNvPr id="34" name="matrix-2-2"/>
          <p:cNvSpPr>
            <a:spLocks noGrp="1"/>
          </p:cNvSpPr>
          <p:nvPr/>
        </p:nvSpPr>
        <p:spPr>
          <a:xfrm>
            <a:off x="3581400" y="3295650"/>
            <a:ext cx="2286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altLang="en-US" sz="1400"/>
              <a:t>Backup</a:t>
            </a:r>
            <a:endParaRPr lang="en-US" altLang="en-US" sz="1400"/>
          </a:p>
        </p:txBody>
      </p:sp>
      <p:sp>
        <p:nvSpPr>
          <p:cNvPr id="35" name="matrix-2-3"/>
          <p:cNvSpPr>
            <a:spLocks noGrp="1"/>
          </p:cNvSpPr>
          <p:nvPr/>
        </p:nvSpPr>
        <p:spPr>
          <a:xfrm>
            <a:off x="5867400" y="3295650"/>
            <a:ext cx="238125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altLang="en-US"/>
              <a:t>Data Structure</a:t>
            </a:r>
            <a:endParaRPr lang="en-US" altLang="en-US"/>
          </a:p>
        </p:txBody>
      </p:sp>
      <p:sp>
        <p:nvSpPr>
          <p:cNvPr id="36" name="matrix-2-4"/>
          <p:cNvSpPr>
            <a:spLocks noGrp="1"/>
          </p:cNvSpPr>
          <p:nvPr/>
        </p:nvSpPr>
        <p:spPr>
          <a:xfrm>
            <a:off x="8248650" y="3295650"/>
            <a:ext cx="2476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altLang="en-US"/>
              <a:t>Reliable storage</a:t>
            </a:r>
            <a:endParaRPr lang="en-US" altLang="en-US"/>
          </a:p>
        </p:txBody>
      </p:sp>
      <p:sp>
        <p:nvSpPr>
          <p:cNvPr id="37" name="matrix-3-0"/>
          <p:cNvSpPr>
            <a:spLocks noGrp="1"/>
          </p:cNvSpPr>
          <p:nvPr/>
        </p:nvSpPr>
        <p:spPr>
          <a:xfrm>
            <a:off x="723900" y="3790950"/>
            <a:ext cx="171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800100" y="39433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1">
                <a:solidFill>
                  <a:srgbClr val="1F4E79"/>
                </a:solidFill>
              </a:defRPr>
            </a:pPr>
            <a:r>
              <a:rPr sz="1015" b="1">
                <a:solidFill>
                  <a:srgbClr val="1F4E79"/>
                </a:solidFill>
              </a:rPr>
              <a:t>Storage</a:t>
            </a:r>
            <a:endParaRPr sz="1015" b="1">
              <a:solidFill>
                <a:srgbClr val="1F4E79"/>
              </a:solidFill>
            </a:endParaRPr>
          </a:p>
        </p:txBody>
      </p:sp>
      <p:sp>
        <p:nvSpPr>
          <p:cNvPr id="39" name="matrix-3-1"/>
          <p:cNvSpPr>
            <a:spLocks noGrp="1"/>
          </p:cNvSpPr>
          <p:nvPr/>
        </p:nvSpPr>
        <p:spPr>
          <a:xfrm>
            <a:off x="2438400" y="3790950"/>
            <a:ext cx="1143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sz="1400"/>
              <a:t>SaaS</a:t>
            </a:r>
            <a:endParaRPr lang="en-US" sz="1400"/>
          </a:p>
        </p:txBody>
      </p:sp>
      <p:sp>
        <p:nvSpPr>
          <p:cNvPr id="40" name="matrix-3-2"/>
          <p:cNvSpPr>
            <a:spLocks noGrp="1"/>
          </p:cNvSpPr>
          <p:nvPr/>
        </p:nvSpPr>
        <p:spPr>
          <a:xfrm>
            <a:off x="3581400" y="3790950"/>
            <a:ext cx="2286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sz="1400"/>
              <a:t>Files</a:t>
            </a:r>
            <a:endParaRPr lang="en-US" sz="1400"/>
          </a:p>
        </p:txBody>
      </p:sp>
      <p:sp>
        <p:nvSpPr>
          <p:cNvPr id="41" name="matrix-3-3"/>
          <p:cNvSpPr>
            <a:spLocks noGrp="1"/>
          </p:cNvSpPr>
          <p:nvPr/>
        </p:nvSpPr>
        <p:spPr>
          <a:xfrm>
            <a:off x="5867400" y="3790950"/>
            <a:ext cx="2381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altLang="en-US"/>
              <a:t>Upload Logic</a:t>
            </a:r>
            <a:endParaRPr lang="en-US" altLang="en-US"/>
          </a:p>
        </p:txBody>
      </p:sp>
      <p:sp>
        <p:nvSpPr>
          <p:cNvPr id="42" name="matrix-3-4"/>
          <p:cNvSpPr>
            <a:spLocks noGrp="1"/>
          </p:cNvSpPr>
          <p:nvPr/>
        </p:nvSpPr>
        <p:spPr>
          <a:xfrm>
            <a:off x="8248650" y="3790950"/>
            <a:ext cx="2476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altLang="en-US"/>
              <a:t>Secure documents</a:t>
            </a:r>
            <a:endParaRPr lang="en-US" altLang="en-US"/>
          </a:p>
        </p:txBody>
      </p:sp>
      <p:sp>
        <p:nvSpPr>
          <p:cNvPr id="43" name="matrix-4-0"/>
          <p:cNvSpPr>
            <a:spLocks noGrp="1"/>
          </p:cNvSpPr>
          <p:nvPr/>
        </p:nvSpPr>
        <p:spPr>
          <a:xfrm>
            <a:off x="723900" y="4286250"/>
            <a:ext cx="1714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44" name="Rectangle 43"/>
          <p:cNvSpPr>
            <a:spLocks noGrp="1"/>
          </p:cNvSpPr>
          <p:nvPr/>
        </p:nvSpPr>
        <p:spPr>
          <a:xfrm>
            <a:off x="800100" y="44386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1">
                <a:solidFill>
                  <a:srgbClr val="1F4E79"/>
                </a:solidFill>
              </a:defRPr>
            </a:pPr>
            <a:r>
              <a:rPr sz="1015" b="1">
                <a:solidFill>
                  <a:srgbClr val="1F4E79"/>
                </a:solidFill>
              </a:rPr>
              <a:t>Monitoring / logs</a:t>
            </a:r>
            <a:endParaRPr sz="1015" b="1">
              <a:solidFill>
                <a:srgbClr val="1F4E79"/>
              </a:solidFill>
            </a:endParaRPr>
          </a:p>
        </p:txBody>
      </p:sp>
      <p:sp>
        <p:nvSpPr>
          <p:cNvPr id="45" name="matrix-4-1"/>
          <p:cNvSpPr>
            <a:spLocks noGrp="1"/>
          </p:cNvSpPr>
          <p:nvPr/>
        </p:nvSpPr>
        <p:spPr>
          <a:xfrm>
            <a:off x="2438400" y="4286250"/>
            <a:ext cx="1143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sz="1400"/>
              <a:t>SaaS</a:t>
            </a:r>
            <a:endParaRPr lang="en-US" sz="1400"/>
          </a:p>
        </p:txBody>
      </p:sp>
      <p:sp>
        <p:nvSpPr>
          <p:cNvPr id="46" name="matrix-4-2"/>
          <p:cNvSpPr>
            <a:spLocks noGrp="1"/>
          </p:cNvSpPr>
          <p:nvPr/>
        </p:nvSpPr>
        <p:spPr>
          <a:xfrm>
            <a:off x="3581400" y="4286250"/>
            <a:ext cx="2286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sz="1400"/>
              <a:t>Logs</a:t>
            </a:r>
            <a:endParaRPr lang="en-US" sz="1400"/>
          </a:p>
        </p:txBody>
      </p:sp>
      <p:sp>
        <p:nvSpPr>
          <p:cNvPr id="47" name="matrix-4-3"/>
          <p:cNvSpPr>
            <a:spLocks noGrp="1"/>
          </p:cNvSpPr>
          <p:nvPr/>
        </p:nvSpPr>
        <p:spPr>
          <a:xfrm>
            <a:off x="5867400" y="4286250"/>
            <a:ext cx="238125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Performance </a:t>
            </a:r>
            <a:endParaRPr lang="en-US"/>
          </a:p>
        </p:txBody>
      </p:sp>
      <p:sp>
        <p:nvSpPr>
          <p:cNvPr id="48" name="matrix-4-4"/>
          <p:cNvSpPr>
            <a:spLocks noGrp="1"/>
          </p:cNvSpPr>
          <p:nvPr/>
        </p:nvSpPr>
        <p:spPr>
          <a:xfrm>
            <a:off x="8248650" y="4286250"/>
            <a:ext cx="2476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altLang="en-US"/>
              <a:t>Detect issues</a:t>
            </a:r>
            <a:endParaRPr lang="en-US" altLang="en-US"/>
          </a:p>
        </p:txBody>
      </p:sp>
      <p:sp>
        <p:nvSpPr>
          <p:cNvPr id="49" name="matrix-5-0"/>
          <p:cNvSpPr>
            <a:spLocks noGrp="1"/>
          </p:cNvSpPr>
          <p:nvPr/>
        </p:nvSpPr>
        <p:spPr>
          <a:xfrm>
            <a:off x="723900" y="4781550"/>
            <a:ext cx="171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50" name="Rectangle 49"/>
          <p:cNvSpPr>
            <a:spLocks noGrp="1"/>
          </p:cNvSpPr>
          <p:nvPr/>
        </p:nvSpPr>
        <p:spPr>
          <a:xfrm>
            <a:off x="800100" y="49339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1">
                <a:solidFill>
                  <a:srgbClr val="1F4E79"/>
                </a:solidFill>
              </a:defRPr>
            </a:pPr>
            <a:r>
              <a:rPr sz="1015" b="1">
                <a:solidFill>
                  <a:srgbClr val="1F4E79"/>
                </a:solidFill>
              </a:rPr>
              <a:t>Security / IAM</a:t>
            </a:r>
            <a:endParaRPr sz="1015" b="1">
              <a:solidFill>
                <a:srgbClr val="1F4E79"/>
              </a:solidFill>
            </a:endParaRPr>
          </a:p>
        </p:txBody>
      </p:sp>
      <p:sp>
        <p:nvSpPr>
          <p:cNvPr id="51" name="matrix-5-1"/>
          <p:cNvSpPr>
            <a:spLocks noGrp="1"/>
          </p:cNvSpPr>
          <p:nvPr/>
        </p:nvSpPr>
        <p:spPr>
          <a:xfrm>
            <a:off x="2438400" y="4781550"/>
            <a:ext cx="1143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sz="1400"/>
              <a:t>IAM</a:t>
            </a:r>
            <a:endParaRPr lang="en-US" sz="1400"/>
          </a:p>
        </p:txBody>
      </p:sp>
      <p:sp>
        <p:nvSpPr>
          <p:cNvPr id="52" name="matrix-5-2"/>
          <p:cNvSpPr>
            <a:spLocks noGrp="1"/>
          </p:cNvSpPr>
          <p:nvPr/>
        </p:nvSpPr>
        <p:spPr>
          <a:xfrm>
            <a:off x="3581400" y="4781550"/>
            <a:ext cx="2286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 sz="1400"/>
              <a:t>Authentication</a:t>
            </a:r>
            <a:endParaRPr lang="en-US" sz="1400"/>
          </a:p>
        </p:txBody>
      </p:sp>
      <p:sp>
        <p:nvSpPr>
          <p:cNvPr id="53" name="matrix-5-3"/>
          <p:cNvSpPr>
            <a:spLocks noGrp="1"/>
          </p:cNvSpPr>
          <p:nvPr/>
        </p:nvSpPr>
        <p:spPr>
          <a:xfrm>
            <a:off x="5867400" y="4781550"/>
            <a:ext cx="2381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User Roles</a:t>
            </a:r>
            <a:endParaRPr lang="en-US"/>
          </a:p>
        </p:txBody>
      </p:sp>
      <p:sp>
        <p:nvSpPr>
          <p:cNvPr id="54" name="matrix-5-4"/>
          <p:cNvSpPr>
            <a:spLocks noGrp="1"/>
          </p:cNvSpPr>
          <p:nvPr/>
        </p:nvSpPr>
        <p:spPr>
          <a:xfrm>
            <a:off x="8248650" y="4781550"/>
            <a:ext cx="2476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r>
              <a:rPr lang="en-US"/>
              <a:t>Secure Access</a:t>
            </a:r>
            <a:endParaRPr lang="en-US"/>
          </a:p>
        </p:txBody>
      </p:sp>
      <p:graphicFrame>
        <p:nvGraphicFramePr>
          <p:cNvPr id="70" name="Table 69"/>
          <p:cNvGraphicFramePr/>
          <p:nvPr/>
        </p:nvGraphicFramePr>
        <p:xfrm>
          <a:off x="853440" y="3345180"/>
          <a:ext cx="10485120" cy="0"/>
        </p:xfrm>
        <a:graphic>
          <a:graphicData uri="http://schemas.openxmlformats.org/drawingml/2006/table">
            <a:tbl>
              <a:tblPr/>
              <a:tblGrid>
                <a:gridCol w="10485120"/>
              </a:tblGrid>
              <a:tr h="0">
                <a:tc>
                  <a:txBody>
                    <a:bodyPr/>
                    <a:p>
                      <a:r>
                        <a:rPr sz="1100"/>
                        <a:t>Secure access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06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Data Flow and Analytics Pipeline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product data moves from user activity to useful insight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flow-0"/>
          <p:cNvSpPr>
            <a:spLocks noGrp="1"/>
          </p:cNvSpPr>
          <p:nvPr/>
        </p:nvSpPr>
        <p:spPr>
          <a:xfrm>
            <a:off x="191135" y="1733550"/>
            <a:ext cx="1203325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Rectangle 9"/>
          <p:cNvSpPr>
            <a:spLocks noGrp="1"/>
          </p:cNvSpPr>
          <p:nvPr/>
        </p:nvSpPr>
        <p:spPr>
          <a:xfrm>
            <a:off x="191135" y="1823085"/>
            <a:ext cx="1242060" cy="3695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lang="en-US" altLang="en-US" sz="1350" b="1">
                <a:solidFill>
                  <a:srgbClr val="1F4E79"/>
                </a:solidFill>
              </a:rPr>
              <a:t>User Uploads Resume</a:t>
            </a:r>
            <a:endParaRPr lang="en-US" altLang="en-US" sz="1350" b="1">
              <a:solidFill>
                <a:srgbClr val="1F4E79"/>
              </a:solidFill>
            </a:endParaRPr>
          </a:p>
        </p:txBody>
      </p:sp>
      <p:sp>
        <p:nvSpPr>
          <p:cNvPr id="11" name="flow-line-0"/>
          <p:cNvSpPr>
            <a:spLocks noGrp="1"/>
          </p:cNvSpPr>
          <p:nvPr/>
        </p:nvSpPr>
        <p:spPr>
          <a:xfrm>
            <a:off x="1415415" y="2027555"/>
            <a:ext cx="426720" cy="36576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2" name="flow-1"/>
          <p:cNvSpPr>
            <a:spLocks noGrp="1"/>
          </p:cNvSpPr>
          <p:nvPr/>
        </p:nvSpPr>
        <p:spPr>
          <a:xfrm>
            <a:off x="1863090" y="1771650"/>
            <a:ext cx="1122045" cy="62865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Rectangle 12"/>
          <p:cNvSpPr>
            <a:spLocks noGrp="1"/>
          </p:cNvSpPr>
          <p:nvPr/>
        </p:nvSpPr>
        <p:spPr>
          <a:xfrm>
            <a:off x="1835150" y="1916430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lang="en-US" altLang="en-US" sz="1350" b="1">
                <a:solidFill>
                  <a:srgbClr val="1F4E79"/>
                </a:solidFill>
              </a:rPr>
              <a:t>Resume PDF</a:t>
            </a:r>
            <a:endParaRPr sz="1350" b="1">
              <a:solidFill>
                <a:srgbClr val="1F4E79"/>
              </a:solidFill>
            </a:endParaRPr>
          </a:p>
        </p:txBody>
      </p:sp>
      <p:sp>
        <p:nvSpPr>
          <p:cNvPr id="14" name="flow-line-1"/>
          <p:cNvSpPr>
            <a:spLocks noGrp="1"/>
          </p:cNvSpPr>
          <p:nvPr/>
        </p:nvSpPr>
        <p:spPr>
          <a:xfrm>
            <a:off x="3004820" y="2027555"/>
            <a:ext cx="43688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5" name="flow-2"/>
          <p:cNvSpPr>
            <a:spLocks noGrp="1"/>
          </p:cNvSpPr>
          <p:nvPr/>
        </p:nvSpPr>
        <p:spPr>
          <a:xfrm>
            <a:off x="3429000" y="1733550"/>
            <a:ext cx="1098550" cy="617855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Rectangle 15"/>
          <p:cNvSpPr>
            <a:spLocks noGrp="1"/>
          </p:cNvSpPr>
          <p:nvPr/>
        </p:nvSpPr>
        <p:spPr>
          <a:xfrm>
            <a:off x="3401695" y="1876425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lang="en-US" altLang="en-US" sz="1350" b="1">
                <a:solidFill>
                  <a:srgbClr val="1F4E79"/>
                </a:solidFill>
              </a:rPr>
              <a:t>Cloud Storage</a:t>
            </a:r>
            <a:endParaRPr lang="en-US" altLang="en-US" sz="1350" b="1">
              <a:solidFill>
                <a:srgbClr val="1F4E79"/>
              </a:solidFill>
            </a:endParaRPr>
          </a:p>
        </p:txBody>
      </p:sp>
      <p:sp>
        <p:nvSpPr>
          <p:cNvPr id="17" name="flow-line-2"/>
          <p:cNvSpPr>
            <a:spLocks noGrp="1"/>
          </p:cNvSpPr>
          <p:nvPr/>
        </p:nvSpPr>
        <p:spPr>
          <a:xfrm>
            <a:off x="4526915" y="2027555"/>
            <a:ext cx="51435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8" name="flow-3"/>
          <p:cNvSpPr>
            <a:spLocks noGrp="1"/>
          </p:cNvSpPr>
          <p:nvPr/>
        </p:nvSpPr>
        <p:spPr>
          <a:xfrm>
            <a:off x="5035550" y="1771650"/>
            <a:ext cx="1168400" cy="516255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Rectangle 18"/>
          <p:cNvSpPr>
            <a:spLocks noGrp="1"/>
          </p:cNvSpPr>
          <p:nvPr/>
        </p:nvSpPr>
        <p:spPr>
          <a:xfrm>
            <a:off x="5015865" y="1917065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lang="en-US" altLang="en-US" sz="1350" b="1">
                <a:solidFill>
                  <a:srgbClr val="1F4E79"/>
                </a:solidFill>
              </a:rPr>
              <a:t>Python AI</a:t>
            </a:r>
            <a:endParaRPr lang="en-US" altLang="en-US" sz="1350" b="1">
              <a:solidFill>
                <a:srgbClr val="1F4E79"/>
              </a:solidFill>
            </a:endParaRPr>
          </a:p>
        </p:txBody>
      </p:sp>
      <p:sp>
        <p:nvSpPr>
          <p:cNvPr id="20" name="flow-line-3"/>
          <p:cNvSpPr>
            <a:spLocks noGrp="1"/>
          </p:cNvSpPr>
          <p:nvPr/>
        </p:nvSpPr>
        <p:spPr>
          <a:xfrm>
            <a:off x="7607935" y="2027555"/>
            <a:ext cx="51435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21" name="flow-4"/>
          <p:cNvSpPr>
            <a:spLocks noGrp="1"/>
          </p:cNvSpPr>
          <p:nvPr/>
        </p:nvSpPr>
        <p:spPr>
          <a:xfrm>
            <a:off x="9628505" y="1687830"/>
            <a:ext cx="1203325" cy="611505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en-US"/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9624060" y="1791335"/>
            <a:ext cx="1270000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lang="en-US" altLang="en-US" sz="1350" b="1">
                <a:solidFill>
                  <a:srgbClr val="1F4E79"/>
                </a:solidFill>
              </a:rPr>
              <a:t>Job Matching Result</a:t>
            </a:r>
            <a:endParaRPr lang="en-US" sz="1350" b="1">
              <a:solidFill>
                <a:srgbClr val="1F4E79"/>
              </a:solidFill>
            </a:endParaRPr>
          </a:p>
        </p:txBody>
      </p:sp>
      <p:sp>
        <p:nvSpPr>
          <p:cNvPr id="23" name="Data Requirements-panel"/>
          <p:cNvSpPr>
            <a:spLocks noGrp="1"/>
          </p:cNvSpPr>
          <p:nvPr/>
        </p:nvSpPr>
        <p:spPr>
          <a:xfrm>
            <a:off x="72390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Data Requirements-bar"/>
          <p:cNvSpPr>
            <a:spLocks noGrp="1"/>
          </p:cNvSpPr>
          <p:nvPr/>
        </p:nvSpPr>
        <p:spPr>
          <a:xfrm>
            <a:off x="723900" y="3238500"/>
            <a:ext cx="3143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895350" y="34290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Data Requirements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895350" y="38290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User data, events, logs, files, </a:t>
            </a:r>
            <a:r>
              <a:rPr lang="en-US" altLang="en-US" sz="1200" b="0">
                <a:solidFill>
                  <a:srgbClr val="172033"/>
                </a:solidFill>
              </a:rPr>
              <a:t>Resume PDF</a:t>
            </a:r>
            <a:endParaRPr lang="en-US" altLang="en-US" sz="1200" b="0">
              <a:solidFill>
                <a:srgbClr val="172033"/>
              </a:solidFill>
            </a:endParaRPr>
          </a:p>
          <a:p>
            <a:pPr algn="l">
              <a:defRPr sz="1200" b="0">
                <a:solidFill>
                  <a:srgbClr val="172033"/>
                </a:solidFill>
              </a:defRPr>
            </a:pPr>
            <a:r>
              <a:rPr lang="en-US" altLang="en-US" sz="1200" b="0">
                <a:solidFill>
                  <a:srgbClr val="172033"/>
                </a:solidFill>
              </a:rPr>
              <a:t>User Profile,Job Description.</a:t>
            </a:r>
            <a:endParaRPr lang="en-US" altLang="en-US" sz="1200" b="0">
              <a:solidFill>
                <a:srgbClr val="172033"/>
              </a:solidFill>
            </a:endParaRPr>
          </a:p>
        </p:txBody>
      </p:sp>
      <p:sp>
        <p:nvSpPr>
          <p:cNvPr id="27" name="Analytics Requirement-panel"/>
          <p:cNvSpPr>
            <a:spLocks noGrp="1"/>
          </p:cNvSpPr>
          <p:nvPr/>
        </p:nvSpPr>
        <p:spPr>
          <a:xfrm>
            <a:off x="436245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Analytics Requirement-bar"/>
          <p:cNvSpPr>
            <a:spLocks noGrp="1"/>
          </p:cNvSpPr>
          <p:nvPr/>
        </p:nvSpPr>
        <p:spPr>
          <a:xfrm>
            <a:off x="4362450" y="3238500"/>
            <a:ext cx="3143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4533900" y="34290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Analytics Requirement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4533900" y="38290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Dashboard,</a:t>
            </a:r>
            <a:r>
              <a:rPr lang="en-US" altLang="en-US" sz="1200" b="0">
                <a:solidFill>
                  <a:srgbClr val="172033"/>
                </a:solidFill>
              </a:rPr>
              <a:t>Match Score,Skill Gap</a:t>
            </a:r>
            <a:endParaRPr lang="en-US" altLang="en-US" sz="1200" b="0">
              <a:solidFill>
                <a:srgbClr val="172033"/>
              </a:solidFill>
            </a:endParaRPr>
          </a:p>
          <a:p>
            <a:pPr algn="l">
              <a:defRPr sz="1200" b="0">
                <a:solidFill>
                  <a:srgbClr val="172033"/>
                </a:solidFill>
              </a:defRPr>
            </a:pPr>
            <a:r>
              <a:rPr lang="en-US" altLang="en-US" sz="1200" b="0">
                <a:solidFill>
                  <a:srgbClr val="172033"/>
                </a:solidFill>
              </a:rPr>
              <a:t>Recommended Jobs</a:t>
            </a:r>
            <a:r>
              <a:rPr sz="1200" b="0">
                <a:solidFill>
                  <a:srgbClr val="172033"/>
                </a:solidFill>
              </a:rPr>
              <a:t> </a:t>
            </a:r>
            <a:r>
              <a:rPr lang="en-US" sz="1200" b="0">
                <a:solidFill>
                  <a:srgbClr val="172033"/>
                </a:solidFill>
              </a:rPr>
              <a:t>.</a:t>
            </a:r>
            <a:endParaRPr lang="en-US" sz="1200" b="0">
              <a:solidFill>
                <a:srgbClr val="172033"/>
              </a:solidFill>
            </a:endParaRPr>
          </a:p>
        </p:txBody>
      </p:sp>
      <p:sp>
        <p:nvSpPr>
          <p:cNvPr id="31" name="Proof Required-panel"/>
          <p:cNvSpPr>
            <a:spLocks noGrp="1"/>
          </p:cNvSpPr>
          <p:nvPr/>
        </p:nvSpPr>
        <p:spPr>
          <a:xfrm>
            <a:off x="8001000" y="3238500"/>
            <a:ext cx="3265170" cy="189611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2" name="Proof Required-bar"/>
          <p:cNvSpPr>
            <a:spLocks noGrp="1"/>
          </p:cNvSpPr>
          <p:nvPr/>
        </p:nvSpPr>
        <p:spPr>
          <a:xfrm>
            <a:off x="8001000" y="3238500"/>
            <a:ext cx="3143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8172450" y="34290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Proof Required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8172450" y="3829050"/>
            <a:ext cx="2800350" cy="15881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lang="en-US" altLang="en-US" sz="1200" b="1">
                <a:solidFill>
                  <a:srgbClr val="172033"/>
                </a:solidFill>
              </a:rPr>
              <a:t>Input:</a:t>
            </a:r>
            <a:endParaRPr lang="en-US" altLang="en-US" sz="1200" b="1">
              <a:solidFill>
                <a:srgbClr val="172033"/>
              </a:solidFill>
            </a:endParaRPr>
          </a:p>
          <a:p>
            <a:pPr algn="l">
              <a:defRPr sz="1200" b="0">
                <a:solidFill>
                  <a:srgbClr val="172033"/>
                </a:solidFill>
              </a:defRPr>
            </a:pPr>
            <a:r>
              <a:rPr lang="en-US" altLang="en-US" sz="1200" b="0">
                <a:solidFill>
                  <a:srgbClr val="172033"/>
                </a:solidFill>
              </a:rPr>
              <a:t>Resume</a:t>
            </a:r>
            <a:endParaRPr lang="en-US" altLang="en-US" sz="1200" b="0">
              <a:solidFill>
                <a:srgbClr val="172033"/>
              </a:solidFill>
            </a:endParaRPr>
          </a:p>
          <a:p>
            <a:pPr algn="l">
              <a:defRPr sz="1200" b="0">
                <a:solidFill>
                  <a:srgbClr val="172033"/>
                </a:solidFill>
              </a:defRPr>
            </a:pPr>
            <a:r>
              <a:rPr lang="en-US" altLang="en-US" sz="1200" b="1">
                <a:solidFill>
                  <a:srgbClr val="172033"/>
                </a:solidFill>
              </a:rPr>
              <a:t>Output:</a:t>
            </a:r>
            <a:endParaRPr lang="en-US" altLang="en-US" sz="1200" b="1">
              <a:solidFill>
                <a:srgbClr val="172033"/>
              </a:solidFill>
            </a:endParaRPr>
          </a:p>
          <a:p>
            <a:pPr algn="l">
              <a:defRPr sz="1200" b="0">
                <a:solidFill>
                  <a:srgbClr val="172033"/>
                </a:solidFill>
              </a:defRPr>
            </a:pPr>
            <a:r>
              <a:rPr lang="en-US" altLang="en-US" sz="1200" b="0">
                <a:solidFill>
                  <a:srgbClr val="172033"/>
                </a:solidFill>
              </a:rPr>
              <a:t>85% Match Score</a:t>
            </a:r>
            <a:endParaRPr lang="en-US" altLang="en-US" sz="1200" b="0">
              <a:solidFill>
                <a:srgbClr val="172033"/>
              </a:solidFill>
            </a:endParaRPr>
          </a:p>
          <a:p>
            <a:pPr algn="l">
              <a:defRPr sz="1200" b="0">
                <a:solidFill>
                  <a:srgbClr val="172033"/>
                </a:solidFill>
              </a:defRPr>
            </a:pPr>
            <a:r>
              <a:rPr lang="en-US" altLang="en-US" sz="1200" b="1">
                <a:solidFill>
                  <a:srgbClr val="172033"/>
                </a:solidFill>
              </a:rPr>
              <a:t>Insight:</a:t>
            </a:r>
            <a:endParaRPr lang="en-US" altLang="en-US" sz="1200" b="1">
              <a:solidFill>
                <a:srgbClr val="172033"/>
              </a:solidFill>
            </a:endParaRPr>
          </a:p>
          <a:p>
            <a:pPr algn="l">
              <a:defRPr sz="1200" b="0">
                <a:solidFill>
                  <a:srgbClr val="172033"/>
                </a:solidFill>
              </a:defRPr>
            </a:pPr>
            <a:r>
              <a:rPr lang="en-US" altLang="en-US" sz="1200" b="0">
                <a:solidFill>
                  <a:srgbClr val="172033"/>
                </a:solidFill>
              </a:rPr>
              <a:t>Python recommended Data Analyst role.</a:t>
            </a:r>
            <a:endParaRPr lang="en-US" altLang="en-US" sz="1200" b="0">
              <a:solidFill>
                <a:srgbClr val="172033"/>
              </a:solidFill>
            </a:endParaRPr>
          </a:p>
        </p:txBody>
      </p:sp>
      <p:sp>
        <p:nvSpPr>
          <p:cNvPr id="37" name="flow-4"/>
          <p:cNvSpPr>
            <a:spLocks noGrp="1"/>
          </p:cNvSpPr>
          <p:nvPr/>
        </p:nvSpPr>
        <p:spPr>
          <a:xfrm>
            <a:off x="6743700" y="1788160"/>
            <a:ext cx="864870" cy="499745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r>
              <a:rPr lang="en-US" altLang="en-US" sz="1400" b="1">
                <a:solidFill>
                  <a:schemeClr val="accent1"/>
                </a:solidFill>
              </a:rPr>
              <a:t>Resume Analysis</a:t>
            </a:r>
            <a:endParaRPr lang="en-US" altLang="en-US" sz="1400" b="1">
              <a:solidFill>
                <a:schemeClr val="accent1"/>
              </a:solidFill>
            </a:endParaRPr>
          </a:p>
          <a:p>
            <a:endParaRPr lang="en-US" altLang="en-US" sz="1400" b="1">
              <a:solidFill>
                <a:schemeClr val="accent1"/>
              </a:solidFill>
            </a:endParaRPr>
          </a:p>
        </p:txBody>
      </p:sp>
      <p:sp>
        <p:nvSpPr>
          <p:cNvPr id="38" name="flow-line-3"/>
          <p:cNvSpPr>
            <a:spLocks noGrp="1"/>
          </p:cNvSpPr>
          <p:nvPr/>
        </p:nvSpPr>
        <p:spPr>
          <a:xfrm>
            <a:off x="6203950" y="1987550"/>
            <a:ext cx="51435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40" name="flow-4"/>
          <p:cNvSpPr>
            <a:spLocks noGrp="1"/>
          </p:cNvSpPr>
          <p:nvPr/>
        </p:nvSpPr>
        <p:spPr>
          <a:xfrm>
            <a:off x="8173720" y="1733550"/>
            <a:ext cx="1053465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en-US"/>
          </a:p>
        </p:txBody>
      </p:sp>
      <p:sp>
        <p:nvSpPr>
          <p:cNvPr id="41" name="Rectangle 40"/>
          <p:cNvSpPr>
            <a:spLocks noGrp="1"/>
          </p:cNvSpPr>
          <p:nvPr/>
        </p:nvSpPr>
        <p:spPr>
          <a:xfrm>
            <a:off x="8196580" y="1917065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lang="en-US" sz="1350" b="1">
                <a:solidFill>
                  <a:srgbClr val="1F4E79"/>
                </a:solidFill>
              </a:rPr>
              <a:t>Database</a:t>
            </a:r>
            <a:endParaRPr lang="en-US" sz="1350" b="1">
              <a:solidFill>
                <a:srgbClr val="1F4E79"/>
              </a:solidFill>
            </a:endParaRPr>
          </a:p>
        </p:txBody>
      </p:sp>
      <p:sp>
        <p:nvSpPr>
          <p:cNvPr id="42" name="flow-4"/>
          <p:cNvSpPr>
            <a:spLocks noGrp="1"/>
          </p:cNvSpPr>
          <p:nvPr/>
        </p:nvSpPr>
        <p:spPr>
          <a:xfrm>
            <a:off x="11064240" y="1670685"/>
            <a:ext cx="1053465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en-US" sz="1400" b="1">
              <a:solidFill>
                <a:schemeClr val="accent1"/>
              </a:solidFill>
            </a:endParaRPr>
          </a:p>
          <a:p>
            <a:r>
              <a:rPr lang="en-US" sz="1400" b="1">
                <a:solidFill>
                  <a:schemeClr val="accent1"/>
                </a:solidFill>
              </a:rPr>
              <a:t>Dashboard</a:t>
            </a:r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43" name="flow-line-3"/>
          <p:cNvSpPr>
            <a:spLocks noGrp="1"/>
          </p:cNvSpPr>
          <p:nvPr/>
        </p:nvSpPr>
        <p:spPr>
          <a:xfrm>
            <a:off x="9211945" y="1989455"/>
            <a:ext cx="422910" cy="36576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44" name="flow-line-3"/>
          <p:cNvSpPr>
            <a:spLocks noGrp="1"/>
          </p:cNvSpPr>
          <p:nvPr/>
        </p:nvSpPr>
        <p:spPr>
          <a:xfrm>
            <a:off x="10831830" y="2027555"/>
            <a:ext cx="255905" cy="36576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07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Python / AI Module Integration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Python or AI adds intelligence where the product needs it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section-0"/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section-accent-0"/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Python Role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Uses NLP and Machine Learning to compare resumes with job descriptions.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3" name="section-1"/>
          <p:cNvSpPr>
            <a:spLocks noGrp="1"/>
          </p:cNvSpPr>
          <p:nvPr/>
        </p:nvSpPr>
        <p:spPr>
          <a:xfrm>
            <a:off x="6134100" y="1600200"/>
            <a:ext cx="4862195" cy="162179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en-US"/>
          </a:p>
        </p:txBody>
      </p:sp>
      <p:sp>
        <p:nvSpPr>
          <p:cNvPr id="14" name="section-accent-1"/>
          <p:cNvSpPr>
            <a:spLocks noGrp="1"/>
          </p:cNvSpPr>
          <p:nvPr/>
        </p:nvSpPr>
        <p:spPr>
          <a:xfrm>
            <a:off x="6134100" y="1600200"/>
            <a:ext cx="76200" cy="162179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Input and Output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384290" y="2132965"/>
            <a:ext cx="205549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600" b="1">
                <a:solidFill>
                  <a:srgbClr val="172033"/>
                </a:solidFill>
              </a:rPr>
              <a:t>Input</a:t>
            </a:r>
            <a:r>
              <a:rPr lang="en-US" altLang="en-US" sz="1400" b="1">
                <a:solidFill>
                  <a:srgbClr val="172033"/>
                </a:solidFill>
              </a:rPr>
              <a:t>:</a:t>
            </a:r>
            <a:endParaRPr lang="en-US" altLang="en-US" sz="1400" b="1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400" b="0">
                <a:solidFill>
                  <a:srgbClr val="172033"/>
                </a:solidFill>
              </a:rPr>
              <a:t>Resume PDF</a:t>
            </a:r>
            <a:endParaRPr lang="en-US" altLang="en-US" sz="1400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400" b="0">
                <a:solidFill>
                  <a:srgbClr val="172033"/>
                </a:solidFill>
              </a:rPr>
              <a:t>Skills</a:t>
            </a:r>
            <a:endParaRPr lang="en-US" altLang="en-US" sz="1400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400" b="0">
                <a:solidFill>
                  <a:srgbClr val="172033"/>
                </a:solidFill>
              </a:rPr>
              <a:t>Experience</a:t>
            </a:r>
            <a:endParaRPr lang="en-US" altLang="en-US" sz="1400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endParaRPr lang="en-US" altLang="en-US" sz="1400" b="0">
              <a:solidFill>
                <a:srgbClr val="172033"/>
              </a:solidFill>
            </a:endParaRPr>
          </a:p>
        </p:txBody>
      </p:sp>
      <p:sp>
        <p:nvSpPr>
          <p:cNvPr id="17" name="section-2"/>
          <p:cNvSpPr>
            <a:spLocks noGrp="1"/>
          </p:cNvSpPr>
          <p:nvPr/>
        </p:nvSpPr>
        <p:spPr>
          <a:xfrm>
            <a:off x="695325" y="368046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section-accent-2"/>
          <p:cNvSpPr>
            <a:spLocks noGrp="1"/>
          </p:cNvSpPr>
          <p:nvPr/>
        </p:nvSpPr>
        <p:spPr>
          <a:xfrm>
            <a:off x="638175" y="36957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952500" y="37719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Execution Point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952500" y="414909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API endpoint, serverless function, container, notebook, or scheduled job</a:t>
            </a:r>
            <a:r>
              <a:rPr lang="en-US" sz="1275" b="0">
                <a:solidFill>
                  <a:srgbClr val="172033"/>
                </a:solidFill>
              </a:rPr>
              <a:t>,</a:t>
            </a:r>
            <a:r>
              <a:rPr lang="en-US" altLang="en-US" sz="1275" b="0">
                <a:solidFill>
                  <a:srgbClr val="172033"/>
                </a:solidFill>
              </a:rPr>
              <a:t>Flask REST API.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21" name="section-3"/>
          <p:cNvSpPr>
            <a:spLocks noGrp="1"/>
          </p:cNvSpPr>
          <p:nvPr/>
        </p:nvSpPr>
        <p:spPr>
          <a:xfrm>
            <a:off x="6134100" y="38608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en-US"/>
          </a:p>
        </p:txBody>
      </p:sp>
      <p:sp>
        <p:nvSpPr>
          <p:cNvPr id="22" name="section-accent-3"/>
          <p:cNvSpPr>
            <a:spLocks noGrp="1"/>
          </p:cNvSpPr>
          <p:nvPr/>
        </p:nvSpPr>
        <p:spPr>
          <a:xfrm>
            <a:off x="6115050" y="3829050"/>
            <a:ext cx="76200" cy="128905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311900" y="3987165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Product Value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311900" y="436499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AutoNum type="arabicPeriod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Faster screening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342900" indent="-342900" algn="l">
              <a:buFont typeface="Arial" panose="020B0604020202020204" pitchFamily="34" charset="0"/>
              <a:buAutoNum type="arabicPeriod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Better accuracy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342900" indent="-342900" algn="l">
              <a:buFont typeface="Arial" panose="020B0604020202020204" pitchFamily="34" charset="0"/>
              <a:buAutoNum type="arabicPeriod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Reduced HR workload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8549005" y="2153920"/>
            <a:ext cx="2083435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600" b="1">
                <a:solidFill>
                  <a:srgbClr val="172033"/>
                </a:solidFill>
                <a:sym typeface="+mn-ea"/>
              </a:rPr>
              <a:t>Output:</a:t>
            </a:r>
            <a:endParaRPr lang="en-US" altLang="en-US" sz="1600" b="1">
              <a:solidFill>
                <a:srgbClr val="172033"/>
              </a:solidFill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400">
                <a:solidFill>
                  <a:srgbClr val="172033"/>
                </a:solidFill>
                <a:sym typeface="+mn-ea"/>
              </a:rPr>
              <a:t>Match Score</a:t>
            </a:r>
            <a:endParaRPr lang="en-US" altLang="en-US" sz="1400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400">
                <a:solidFill>
                  <a:srgbClr val="172033"/>
                </a:solidFill>
                <a:sym typeface="+mn-ea"/>
              </a:rPr>
              <a:t>Recommended Jobs</a:t>
            </a:r>
            <a:endParaRPr lang="en-US" altLang="en-US" sz="1400" b="0">
              <a:solidFill>
                <a:srgbClr val="172033"/>
              </a:solidFill>
            </a:endParaRPr>
          </a:p>
          <a:p>
            <a:endParaRPr 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08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Security, Scalability, Privacy and Cost Design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Security, scale, privacy and cost shape the final design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section-0"/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section-accent-0"/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Security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sz="1275" b="0">
                <a:solidFill>
                  <a:srgbClr val="172033"/>
                </a:solidFill>
              </a:rPr>
              <a:t>Firebase </a:t>
            </a:r>
            <a:r>
              <a:rPr sz="1275" b="0">
                <a:solidFill>
                  <a:srgbClr val="172033"/>
                </a:solidFill>
              </a:rPr>
              <a:t>Authentication, </a:t>
            </a:r>
            <a:r>
              <a:rPr lang="en-US" sz="1275" b="0">
                <a:solidFill>
                  <a:srgbClr val="172033"/>
                </a:solidFill>
              </a:rPr>
              <a:t>Login </a:t>
            </a:r>
            <a:r>
              <a:rPr sz="1275" b="0">
                <a:solidFill>
                  <a:srgbClr val="172033"/>
                </a:solidFill>
              </a:rPr>
              <a:t>roles,</a:t>
            </a:r>
            <a:r>
              <a:rPr lang="en-US" sz="1275" b="0">
                <a:solidFill>
                  <a:srgbClr val="172033"/>
                </a:solidFill>
              </a:rPr>
              <a:t>Input</a:t>
            </a:r>
            <a:r>
              <a:rPr sz="1275" b="0">
                <a:solidFill>
                  <a:srgbClr val="172033"/>
                </a:solidFill>
              </a:rPr>
              <a:t> validation,</a:t>
            </a:r>
            <a:r>
              <a:rPr lang="en-US" sz="1275" b="0">
                <a:solidFill>
                  <a:srgbClr val="172033"/>
                </a:solidFill>
              </a:rPr>
              <a:t>Role-based Access,</a:t>
            </a:r>
            <a:r>
              <a:rPr sz="1275" b="0">
                <a:solidFill>
                  <a:srgbClr val="172033"/>
                </a:solidFill>
              </a:rPr>
              <a:t> audit trail.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3" name="section-1"/>
          <p:cNvSpPr>
            <a:spLocks noGrp="1"/>
          </p:cNvSpPr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section-accent-1"/>
          <p:cNvSpPr>
            <a:spLocks noGrp="1"/>
          </p:cNvSpPr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Privacy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Encrypted Resume Storage,Restricted Access</a:t>
            </a:r>
            <a:endParaRPr lang="en-US" altLang="en-US" sz="1275" b="0">
              <a:solidFill>
                <a:srgbClr val="172033"/>
              </a:solidFill>
            </a:endParaRPr>
          </a:p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User Consent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7" name="section-2"/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en-US"/>
          </a:p>
        </p:txBody>
      </p:sp>
      <p:sp>
        <p:nvSpPr>
          <p:cNvPr id="18" name="section-accent-2"/>
          <p:cNvSpPr>
            <a:spLocks noGrp="1"/>
          </p:cNvSpPr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Scalability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Cloud automatically supports increasing users.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21" name="section-3"/>
          <p:cNvSpPr>
            <a:spLocks noGrp="1"/>
          </p:cNvSpPr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section-accent-3"/>
          <p:cNvSpPr>
            <a:spLocks noGrp="1"/>
          </p:cNvSpPr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Cost Awareness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Uses Firebase Free Tier.</a:t>
            </a:r>
            <a:r>
              <a:rPr sz="1275" b="0">
                <a:solidFill>
                  <a:srgbClr val="172033"/>
                </a:solidFill>
              </a:rPr>
              <a:t>, managed services, storage/API usage limits.</a:t>
            </a:r>
            <a:endParaRPr sz="1275" b="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09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Implementation Stack and Deployment Evidence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Our implementation stack shows how the design will be built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section-0"/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section-accent-0"/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Mobile / Web Layer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Android, iOS, Flutter, React, or web frontend.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3" name="section-1"/>
          <p:cNvSpPr>
            <a:spLocks noGrp="1"/>
          </p:cNvSpPr>
          <p:nvPr/>
        </p:nvSpPr>
        <p:spPr>
          <a:xfrm>
            <a:off x="6134100" y="1600200"/>
            <a:ext cx="4762500" cy="1792605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section-accent-1"/>
          <p:cNvSpPr>
            <a:spLocks noGrp="1"/>
          </p:cNvSpPr>
          <p:nvPr/>
        </p:nvSpPr>
        <p:spPr>
          <a:xfrm>
            <a:off x="6134100" y="1600200"/>
            <a:ext cx="76200" cy="178689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Cloud Services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Firebase Authentication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Firestore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Cloud Storage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Flask API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7" name="section-2"/>
          <p:cNvSpPr>
            <a:spLocks noGrp="1"/>
          </p:cNvSpPr>
          <p:nvPr/>
        </p:nvSpPr>
        <p:spPr>
          <a:xfrm>
            <a:off x="723900" y="3238500"/>
            <a:ext cx="4953000" cy="271526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en-US"/>
          </a:p>
        </p:txBody>
      </p:sp>
      <p:sp>
        <p:nvSpPr>
          <p:cNvPr id="18" name="section-accent-2"/>
          <p:cNvSpPr>
            <a:spLocks noGrp="1"/>
          </p:cNvSpPr>
          <p:nvPr/>
        </p:nvSpPr>
        <p:spPr>
          <a:xfrm flipH="1">
            <a:off x="709930" y="3238500"/>
            <a:ext cx="116840" cy="2704465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Evidence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endParaRPr sz="1275" b="0">
              <a:solidFill>
                <a:srgbClr val="172033"/>
              </a:solidFill>
            </a:endParaRPr>
          </a:p>
        </p:txBody>
      </p:sp>
      <p:sp>
        <p:nvSpPr>
          <p:cNvPr id="21" name="section-3"/>
          <p:cNvSpPr>
            <a:spLocks noGrp="1"/>
          </p:cNvSpPr>
          <p:nvPr/>
        </p:nvSpPr>
        <p:spPr>
          <a:xfrm>
            <a:off x="6191250" y="38481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section-accent-3"/>
          <p:cNvSpPr>
            <a:spLocks noGrp="1"/>
          </p:cNvSpPr>
          <p:nvPr/>
        </p:nvSpPr>
        <p:spPr>
          <a:xfrm>
            <a:off x="6191250" y="3860800"/>
            <a:ext cx="57150" cy="125730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384290" y="394335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Version Control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384290" y="4436745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Repository structure, commits, branches, and README clarity.</a:t>
            </a:r>
            <a:endParaRPr sz="1275" b="0">
              <a:solidFill>
                <a:srgbClr val="172033"/>
              </a:solidFill>
            </a:endParaRPr>
          </a:p>
        </p:txBody>
      </p:sp>
      <p:pic>
        <p:nvPicPr>
          <p:cNvPr id="28" name="Picture 27"/>
          <p:cNvPicPr/>
          <p:nvPr/>
        </p:nvPicPr>
        <p:blipFill>
          <a:blip r:embed="rId2"/>
          <a:srcRect l="15374" t="11104" r="10846" b="4900"/>
          <a:stretch>
            <a:fillRect/>
          </a:stretch>
        </p:blipFill>
        <p:spPr>
          <a:xfrm>
            <a:off x="876300" y="3815080"/>
            <a:ext cx="1497965" cy="1985010"/>
          </a:xfrm>
          <a:prstGeom prst="rect">
            <a:avLst/>
          </a:prstGeom>
        </p:spPr>
      </p:pic>
      <p:pic>
        <p:nvPicPr>
          <p:cNvPr id="30" name="Picture 29"/>
          <p:cNvPicPr/>
          <p:nvPr/>
        </p:nvPicPr>
        <p:blipFill>
          <a:blip r:embed="rId3"/>
          <a:srcRect t="-2288" r="9159"/>
          <a:stretch>
            <a:fillRect/>
          </a:stretch>
        </p:blipFill>
        <p:spPr>
          <a:xfrm>
            <a:off x="2423795" y="4725035"/>
            <a:ext cx="3192780" cy="1161415"/>
          </a:xfrm>
          <a:prstGeom prst="rect">
            <a:avLst/>
          </a:prstGeom>
        </p:spPr>
      </p:pic>
      <p:pic>
        <p:nvPicPr>
          <p:cNvPr id="31" name="Picture 30"/>
          <p:cNvPicPr/>
          <p:nvPr/>
        </p:nvPicPr>
        <p:blipFill>
          <a:blip r:embed="rId4"/>
          <a:srcRect r="30125" b="26486"/>
          <a:stretch>
            <a:fillRect/>
          </a:stretch>
        </p:blipFill>
        <p:spPr>
          <a:xfrm>
            <a:off x="2408555" y="3824605"/>
            <a:ext cx="3183890" cy="8166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10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Demo Storyboard and User Journey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 complete user journey proves the product flow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scene-0"/>
          <p:cNvSpPr>
            <a:spLocks noGrp="1"/>
          </p:cNvSpPr>
          <p:nvPr/>
        </p:nvSpPr>
        <p:spPr>
          <a:xfrm>
            <a:off x="7239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Rectangle 9"/>
          <p:cNvSpPr>
            <a:spLocks noGrp="1"/>
          </p:cNvSpPr>
          <p:nvPr/>
        </p:nvSpPr>
        <p:spPr>
          <a:xfrm>
            <a:off x="895350" y="17335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1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895350" y="209550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64748B"/>
                </a:solidFill>
              </a:defRPr>
            </a:pPr>
            <a:r>
              <a:rPr lang="en-US" altLang="en-US" sz="1165" b="0">
                <a:solidFill>
                  <a:srgbClr val="64748B"/>
                </a:solidFill>
              </a:rPr>
              <a:t>The user (student or recruiter) opens the SkillHire app and logs in using Firebase Authentication.</a:t>
            </a:r>
            <a:endParaRPr lang="en-US" altLang="en-US" sz="1165" b="0">
              <a:solidFill>
                <a:srgbClr val="64748B"/>
              </a:solidFill>
            </a:endParaRPr>
          </a:p>
        </p:txBody>
      </p:sp>
      <p:sp>
        <p:nvSpPr>
          <p:cNvPr id="12" name="scene-1"/>
          <p:cNvSpPr>
            <a:spLocks noGrp="1"/>
          </p:cNvSpPr>
          <p:nvPr/>
        </p:nvSpPr>
        <p:spPr>
          <a:xfrm>
            <a:off x="436245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Rectangle 12"/>
          <p:cNvSpPr>
            <a:spLocks noGrp="1"/>
          </p:cNvSpPr>
          <p:nvPr/>
        </p:nvSpPr>
        <p:spPr>
          <a:xfrm>
            <a:off x="4533900" y="17335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2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4533900" y="209550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64748B"/>
                </a:solidFill>
              </a:defRPr>
            </a:pPr>
            <a:r>
              <a:rPr lang="en-US" altLang="en-US" sz="1165" b="0">
                <a:solidFill>
                  <a:srgbClr val="64748B"/>
                </a:solidFill>
              </a:rPr>
              <a:t>After login, the user reaches the dashboard and selects Upload Resume.</a:t>
            </a:r>
            <a:endParaRPr lang="en-US" altLang="en-US" sz="1165" b="0">
              <a:solidFill>
                <a:srgbClr val="64748B"/>
              </a:solidFill>
            </a:endParaRPr>
          </a:p>
        </p:txBody>
      </p:sp>
      <p:sp>
        <p:nvSpPr>
          <p:cNvPr id="15" name="scene-2"/>
          <p:cNvSpPr>
            <a:spLocks noGrp="1"/>
          </p:cNvSpPr>
          <p:nvPr/>
        </p:nvSpPr>
        <p:spPr>
          <a:xfrm>
            <a:off x="80010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Rectangle 15"/>
          <p:cNvSpPr>
            <a:spLocks noGrp="1"/>
          </p:cNvSpPr>
          <p:nvPr/>
        </p:nvSpPr>
        <p:spPr>
          <a:xfrm>
            <a:off x="8172450" y="17335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3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8172450" y="209550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64748B"/>
                </a:solidFill>
              </a:defRPr>
            </a:pPr>
            <a:r>
              <a:rPr lang="en-US" altLang="en-US" sz="1165" b="0">
                <a:solidFill>
                  <a:srgbClr val="64748B"/>
                </a:solidFill>
              </a:rPr>
              <a:t>The user uploads a PDF resume. The file is securely stored in Firebase Cloud Storage.</a:t>
            </a:r>
            <a:endParaRPr lang="en-US" altLang="en-US" sz="1165" b="0">
              <a:solidFill>
                <a:srgbClr val="64748B"/>
              </a:solidFill>
            </a:endParaRPr>
          </a:p>
        </p:txBody>
      </p:sp>
      <p:sp>
        <p:nvSpPr>
          <p:cNvPr id="18" name="scene-3"/>
          <p:cNvSpPr>
            <a:spLocks noGrp="1"/>
          </p:cNvSpPr>
          <p:nvPr/>
        </p:nvSpPr>
        <p:spPr>
          <a:xfrm>
            <a:off x="723900" y="34671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Rectangle 18"/>
          <p:cNvSpPr>
            <a:spLocks noGrp="1"/>
          </p:cNvSpPr>
          <p:nvPr/>
        </p:nvSpPr>
        <p:spPr>
          <a:xfrm>
            <a:off x="933450" y="354774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4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95350" y="38290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64748B"/>
                </a:solidFill>
              </a:defRPr>
            </a:pPr>
            <a:r>
              <a:rPr lang="en-US" altLang="en-US" sz="1165" b="0">
                <a:solidFill>
                  <a:srgbClr val="64748B"/>
                </a:solidFill>
              </a:rPr>
              <a:t>The Flask API sends the resume to the Python AI model, which extracts skills, education, and experience and compares them with job requirements.</a:t>
            </a:r>
            <a:endParaRPr lang="en-US" altLang="en-US" sz="1165" b="0">
              <a:solidFill>
                <a:srgbClr val="64748B"/>
              </a:solidFill>
            </a:endParaRPr>
          </a:p>
        </p:txBody>
      </p:sp>
      <p:sp>
        <p:nvSpPr>
          <p:cNvPr id="21" name="scene-4"/>
          <p:cNvSpPr>
            <a:spLocks noGrp="1"/>
          </p:cNvSpPr>
          <p:nvPr/>
        </p:nvSpPr>
        <p:spPr>
          <a:xfrm>
            <a:off x="4362450" y="34671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Rectangle 21"/>
          <p:cNvSpPr>
            <a:spLocks noGrp="1"/>
          </p:cNvSpPr>
          <p:nvPr/>
        </p:nvSpPr>
        <p:spPr>
          <a:xfrm>
            <a:off x="4547870" y="354774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5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4533900" y="38290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64748B"/>
                </a:solidFill>
              </a:defRPr>
            </a:pPr>
            <a:r>
              <a:rPr lang="en-US" altLang="en-US" sz="1165" b="0">
                <a:solidFill>
                  <a:srgbClr val="64748B"/>
                </a:solidFill>
              </a:rPr>
              <a:t>The AI generates a job match score (e.g., 85%) and recommends suitable job roles along with missing skills.</a:t>
            </a:r>
            <a:endParaRPr lang="en-US" altLang="en-US" sz="1165" b="0">
              <a:solidFill>
                <a:srgbClr val="64748B"/>
              </a:solidFill>
            </a:endParaRPr>
          </a:p>
        </p:txBody>
      </p:sp>
      <p:sp>
        <p:nvSpPr>
          <p:cNvPr id="24" name="scene-5"/>
          <p:cNvSpPr>
            <a:spLocks noGrp="1"/>
          </p:cNvSpPr>
          <p:nvPr/>
        </p:nvSpPr>
        <p:spPr>
          <a:xfrm>
            <a:off x="7896225" y="34290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Rectangle 24"/>
          <p:cNvSpPr>
            <a:spLocks noGrp="1"/>
          </p:cNvSpPr>
          <p:nvPr/>
        </p:nvSpPr>
        <p:spPr>
          <a:xfrm>
            <a:off x="8267700" y="349567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6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8172450" y="38290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64748B"/>
                </a:solidFill>
              </a:defRPr>
            </a:pPr>
            <a:r>
              <a:rPr lang="en-US" altLang="en-US" sz="1165" b="0">
                <a:solidFill>
                  <a:srgbClr val="64748B"/>
                </a:solidFill>
              </a:rPr>
              <a:t>Recruiters can view candidate profiles, match scores, and shortlisted applicants for further recruitment.</a:t>
            </a:r>
            <a:endParaRPr lang="en-US" altLang="en-US" sz="1165" b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11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Evaluation Readiness Checklist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Our evidence confirms that the presentation is ready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check-0"/>
          <p:cNvSpPr>
            <a:spLocks noGrp="1"/>
          </p:cNvSpPr>
          <p:nvPr/>
        </p:nvSpPr>
        <p:spPr>
          <a:xfrm>
            <a:off x="95250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10" name="box-0"/>
          <p:cNvSpPr>
            <a:spLocks noGrp="1"/>
          </p:cNvSpPr>
          <p:nvPr/>
        </p:nvSpPr>
        <p:spPr>
          <a:xfrm>
            <a:off x="1143000" y="18478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txBody>
          <a:bodyPr/>
          <a:p>
            <a:r>
              <a:rPr lang="en-US"/>
              <a:t>✅</a:t>
            </a:r>
            <a:endParaRPr lang="en-US"/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581150" y="17907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Cloud ecosystem and service model explained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12" name="check-1"/>
          <p:cNvSpPr>
            <a:spLocks noGrp="1"/>
          </p:cNvSpPr>
          <p:nvPr/>
        </p:nvSpPr>
        <p:spPr>
          <a:xfrm>
            <a:off x="95250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13" name="box-1"/>
          <p:cNvSpPr>
            <a:spLocks noGrp="1"/>
          </p:cNvSpPr>
          <p:nvPr/>
        </p:nvSpPr>
        <p:spPr>
          <a:xfrm>
            <a:off x="1143000" y="29146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txBody>
          <a:bodyPr/>
          <a:p>
            <a:r>
              <a:rPr lang="en-US"/>
              <a:t>✅</a:t>
            </a:r>
            <a:endParaRPr lang="en-US"/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1581150" y="28575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REST/SOAP/API role connected to capstone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15" name="check-2"/>
          <p:cNvSpPr>
            <a:spLocks noGrp="1"/>
          </p:cNvSpPr>
          <p:nvPr/>
        </p:nvSpPr>
        <p:spPr>
          <a:xfrm>
            <a:off x="95250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16" name="box-2"/>
          <p:cNvSpPr>
            <a:spLocks noGrp="1"/>
          </p:cNvSpPr>
          <p:nvPr/>
        </p:nvSpPr>
        <p:spPr>
          <a:xfrm>
            <a:off x="1143000" y="39814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txBody>
          <a:bodyPr/>
          <a:p>
            <a:r>
              <a:rPr lang="en-US"/>
              <a:t>✅</a:t>
            </a:r>
            <a:endParaRPr lang="en-US"/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581150" y="39243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Architecture has compute, data, storage, security, monitoring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18" name="check-3"/>
          <p:cNvSpPr>
            <a:spLocks noGrp="1"/>
          </p:cNvSpPr>
          <p:nvPr/>
        </p:nvSpPr>
        <p:spPr>
          <a:xfrm>
            <a:off x="657225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9" name="box-3"/>
          <p:cNvSpPr>
            <a:spLocks noGrp="1"/>
          </p:cNvSpPr>
          <p:nvPr/>
        </p:nvSpPr>
        <p:spPr>
          <a:xfrm>
            <a:off x="6762750" y="18478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txBody>
          <a:bodyPr/>
          <a:p>
            <a:r>
              <a:rPr lang="en-US"/>
              <a:t>✅</a:t>
            </a:r>
            <a:endParaRPr lang="en-US"/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7200900" y="17907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Elasticity and scalability decisions are visible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21" name="check-4"/>
          <p:cNvSpPr>
            <a:spLocks noGrp="1"/>
          </p:cNvSpPr>
          <p:nvPr/>
        </p:nvSpPr>
        <p:spPr>
          <a:xfrm>
            <a:off x="657225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</p:sp>
      <p:sp>
        <p:nvSpPr>
          <p:cNvPr id="22" name="box-4"/>
          <p:cNvSpPr>
            <a:spLocks noGrp="1"/>
          </p:cNvSpPr>
          <p:nvPr/>
        </p:nvSpPr>
        <p:spPr>
          <a:xfrm>
            <a:off x="6762750" y="29146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txBody>
          <a:bodyPr/>
          <a:p>
            <a:r>
              <a:rPr lang="en-US"/>
              <a:t>✅</a:t>
            </a:r>
            <a:endParaRPr lang="en-US"/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7200900" y="28575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GitHub and cloud evidence are inspectable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24" name="check-5"/>
          <p:cNvSpPr>
            <a:spLocks noGrp="1"/>
          </p:cNvSpPr>
          <p:nvPr/>
        </p:nvSpPr>
        <p:spPr>
          <a:xfrm>
            <a:off x="657225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5" name="box-5"/>
          <p:cNvSpPr>
            <a:spLocks noGrp="1"/>
          </p:cNvSpPr>
          <p:nvPr/>
        </p:nvSpPr>
        <p:spPr>
          <a:xfrm>
            <a:off x="6762750" y="39814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txBody>
          <a:bodyPr/>
          <a:p>
            <a:r>
              <a:rPr lang="en-US"/>
              <a:t>✅</a:t>
            </a:r>
            <a:endParaRPr lang="en-US"/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7200900" y="39243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References and integrity statement are included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27" name="Evaluator Focus-panel"/>
          <p:cNvSpPr>
            <a:spLocks noGrp="1"/>
          </p:cNvSpPr>
          <p:nvPr/>
        </p:nvSpPr>
        <p:spPr>
          <a:xfrm>
            <a:off x="2095500" y="4953000"/>
            <a:ext cx="8002270" cy="873760"/>
          </a:xfrm>
          <a:prstGeom prst="roundRect">
            <a:avLst>
              <a:gd name="adj" fmla="val 1081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Evaluator Focus-bar"/>
          <p:cNvSpPr>
            <a:spLocks noGrp="1"/>
          </p:cNvSpPr>
          <p:nvPr/>
        </p:nvSpPr>
        <p:spPr>
          <a:xfrm>
            <a:off x="2095500" y="4953000"/>
            <a:ext cx="800100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29" name="Rectangle 28"/>
          <p:cNvSpPr>
            <a:spLocks noGrp="1"/>
          </p:cNvSpPr>
          <p:nvPr/>
        </p:nvSpPr>
        <p:spPr>
          <a:xfrm>
            <a:off x="2266950" y="5143500"/>
            <a:ext cx="765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Evaluator Focus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2266950" y="5524500"/>
            <a:ext cx="765810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CO1 is verified through cloud design reasoning, service choices, evidence, and individual explanation.</a:t>
            </a:r>
            <a:endParaRPr sz="1350" b="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-rule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3" name="accent-rule"/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  <a:endParaRPr sz="975" b="1">
              <a:solidFill>
                <a:srgbClr val="3341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12</a:t>
            </a:r>
            <a:endParaRPr sz="900" b="1">
              <a:solidFill>
                <a:srgbClr val="64748B"/>
              </a:solidFill>
            </a:endParaRPr>
          </a:p>
        </p:txBody>
      </p:sp>
      <p:sp>
        <p:nvSpPr>
          <p:cNvPr id="6" name="slide-title"/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Conclusion, Limitations and Future Scope</a:t>
            </a:r>
            <a:endParaRPr sz="2550" b="1">
              <a:solidFill>
                <a:srgbClr val="1F4E79"/>
              </a:solidFill>
            </a:endParaRPr>
          </a:p>
        </p:txBody>
      </p:sp>
      <p:sp>
        <p:nvSpPr>
          <p:cNvPr id="7" name="slide-subtitle"/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We close with learning, limitations and next steps</a:t>
            </a:r>
            <a:endParaRPr sz="1350" b="0">
              <a:solidFill>
                <a:srgbClr val="3341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  <a:endParaRPr sz="825" b="0">
              <a:solidFill>
                <a:srgbClr val="64748B"/>
              </a:solidFill>
            </a:endParaRPr>
          </a:p>
        </p:txBody>
      </p:sp>
      <p:sp>
        <p:nvSpPr>
          <p:cNvPr id="9" name="section-0"/>
          <p:cNvSpPr>
            <a:spLocks noGrp="1"/>
          </p:cNvSpPr>
          <p:nvPr/>
        </p:nvSpPr>
        <p:spPr>
          <a:xfrm>
            <a:off x="723900" y="1600200"/>
            <a:ext cx="4762500" cy="161036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section-accent-0"/>
          <p:cNvSpPr>
            <a:spLocks noGrp="1"/>
          </p:cNvSpPr>
          <p:nvPr/>
        </p:nvSpPr>
        <p:spPr>
          <a:xfrm flipH="1">
            <a:off x="723900" y="1600200"/>
            <a:ext cx="96520" cy="159385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Learning Outcome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342900" indent="-342900" algn="l">
              <a:buAutoNum type="arabicPeriod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Learned Cloud Computing concepts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342900" indent="-342900" algn="l">
              <a:buAutoNum type="arabicPeriod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Used Firebase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342900" indent="-342900" algn="l">
              <a:buAutoNum type="arabicPeriod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Built REST API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342900" indent="-342900" algn="l">
              <a:buAutoNum type="arabicPeriod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Integrated AI with cloud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3" name="section-1"/>
          <p:cNvSpPr>
            <a:spLocks noGrp="1"/>
          </p:cNvSpPr>
          <p:nvPr/>
        </p:nvSpPr>
        <p:spPr>
          <a:xfrm>
            <a:off x="6134100" y="1600200"/>
            <a:ext cx="4762500" cy="160401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section-accent-1"/>
          <p:cNvSpPr>
            <a:spLocks noGrp="1"/>
          </p:cNvSpPr>
          <p:nvPr/>
        </p:nvSpPr>
        <p:spPr>
          <a:xfrm>
            <a:off x="6115050" y="1600200"/>
            <a:ext cx="102235" cy="160401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Limitations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342900" indent="-342900" algn="l">
              <a:buAutoNum type="arabicPeriod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Limited dataset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342900" indent="-342900" algn="l">
              <a:buAutoNum type="arabicPeriod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Supports only PDF resumes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342900" indent="-342900" algn="l">
              <a:buAutoNum type="arabicPeriod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Basic recommendation engine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17" name="section-2"/>
          <p:cNvSpPr>
            <a:spLocks noGrp="1"/>
          </p:cNvSpPr>
          <p:nvPr/>
        </p:nvSpPr>
        <p:spPr>
          <a:xfrm>
            <a:off x="767715" y="3573145"/>
            <a:ext cx="4886960" cy="168275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section-accent-2"/>
          <p:cNvSpPr>
            <a:spLocks noGrp="1"/>
          </p:cNvSpPr>
          <p:nvPr/>
        </p:nvSpPr>
        <p:spPr>
          <a:xfrm flipH="1">
            <a:off x="800100" y="3569335"/>
            <a:ext cx="76200" cy="168656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983615" y="375285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Future Improvement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983615" y="4293235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Interview scheduling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Multiple languages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Advanced AI recommendations</a:t>
            </a:r>
            <a:endParaRPr lang="en-US" altLang="en-US" sz="1275" b="0">
              <a:solidFill>
                <a:srgbClr val="172033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Company dashboard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  <p:sp>
        <p:nvSpPr>
          <p:cNvPr id="21" name="section-3"/>
          <p:cNvSpPr>
            <a:spLocks noGrp="1"/>
          </p:cNvSpPr>
          <p:nvPr/>
        </p:nvSpPr>
        <p:spPr>
          <a:xfrm>
            <a:off x="6191250" y="3573145"/>
            <a:ext cx="4762500" cy="15570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section-accent-3"/>
          <p:cNvSpPr>
            <a:spLocks noGrp="1"/>
          </p:cNvSpPr>
          <p:nvPr/>
        </p:nvSpPr>
        <p:spPr>
          <a:xfrm flipH="1">
            <a:off x="6168390" y="3554095"/>
            <a:ext cx="76200" cy="157607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456045" y="37338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Integrity Statement</a:t>
            </a:r>
            <a:endParaRPr sz="1650" b="1">
              <a:solidFill>
                <a:srgbClr val="1F4E79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527800" y="4220845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lang="en-US" altLang="en-US" sz="1275" b="0">
                <a:solidFill>
                  <a:srgbClr val="172033"/>
                </a:solidFill>
              </a:rPr>
              <a:t>Project developed for academic purposes using Python, Firebase, Android Studio, GitHub, and AI-assisted documentation where acknowledged</a:t>
            </a:r>
            <a:endParaRPr lang="en-US" altLang="en-US" sz="1275" b="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7208</Words>
  <Application>WPS Presentation</Application>
  <PresentationFormat>Converted Presentation</PresentationFormat>
  <Paragraphs>423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Dr. C. Rajesh Babu</dc:creator>
  <cp:keywords>CSA15; Cloud Computing and Big Data Analytics; Dr. C. Rajesh Babu; SSETSCS-415</cp:keywords>
  <dc:subject>Owner: Dr. C. Rajesh Babu; Employee ID: SSETSCS-415</dc:subject>
  <cp:lastModifiedBy>Varshini Kaiguri</cp:lastModifiedBy>
  <cp:revision>1</cp:revision>
  <dcterms:created xsi:type="dcterms:W3CDTF">2026-07-20T09:14:59Z</dcterms:created>
  <dcterms:modified xsi:type="dcterms:W3CDTF">2026-07-20T09:14:59Z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B52D7AC8BF4447EB961CAF97F77787E2_13</vt:lpwstr>
  </property>
</Properties>
</file>